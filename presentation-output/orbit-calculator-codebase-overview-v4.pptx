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1f6507f754da6" /><Relationship Type="http://schemas.openxmlformats.org/officeDocument/2006/relationships/extended-properties" Target="/docProps/app.xml" Id="Rded44d0b7f7d454c" /><Relationship Type="http://schemas.openxmlformats.org/officeDocument/2006/relationships/officeDocument" Target="/ppt/presentation.xml" Id="R1513753dc1d1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bb9a8376eb4229"/>
  </p:sldMasterIdLst>
  <p:notesMasterIdLst>
    <p:notesMasterId xmlns:r="http://schemas.openxmlformats.org/officeDocument/2006/relationships" r:id="R759c5b530f664452"/>
  </p:notesMasterIdLst>
  <p:sldIdLst>
    <p:sldId xmlns:r="http://schemas.openxmlformats.org/officeDocument/2006/relationships" id="256" r:id="Rfd9d7d83afa64086"/>
    <p:sldId xmlns:r="http://schemas.openxmlformats.org/officeDocument/2006/relationships" id="257" r:id="Rb148ff385759474f"/>
    <p:sldId xmlns:r="http://schemas.openxmlformats.org/officeDocument/2006/relationships" id="258" r:id="R098417c6797d40ea"/>
    <p:sldId xmlns:r="http://schemas.openxmlformats.org/officeDocument/2006/relationships" id="259" r:id="R479d14cca2904cc3"/>
    <p:sldId xmlns:r="http://schemas.openxmlformats.org/officeDocument/2006/relationships" id="260" r:id="R674c8404bb954982"/>
    <p:sldId xmlns:r="http://schemas.openxmlformats.org/officeDocument/2006/relationships" id="261" r:id="R009b48c970b34838"/>
    <p:sldId xmlns:r="http://schemas.openxmlformats.org/officeDocument/2006/relationships" id="262" r:id="Rc7f9232aab8a4b33"/>
    <p:sldId xmlns:r="http://schemas.openxmlformats.org/officeDocument/2006/relationships" id="263" r:id="Rba61cb659f914301"/>
    <p:sldId xmlns:r="http://schemas.openxmlformats.org/officeDocument/2006/relationships" id="264" r:id="R8492b15993ba4ae9"/>
    <p:sldId xmlns:r="http://schemas.openxmlformats.org/officeDocument/2006/relationships" id="265" r:id="R63ff75f7a5134a15"/>
    <p:sldId xmlns:r="http://schemas.openxmlformats.org/officeDocument/2006/relationships" id="266" r:id="Rdf4fb66dbd6b42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b231bc5704476" /><Relationship Type="http://schemas.openxmlformats.org/officeDocument/2006/relationships/slideMaster" Target="/ppt/slideMasters/slideMaster1.xml" Id="R70bb9a8376eb4229" /><Relationship Type="http://schemas.openxmlformats.org/officeDocument/2006/relationships/notesMaster" Target="/ppt/notesMasters/notesMaster1.xml" Id="R759c5b530f664452" /><Relationship Type="http://schemas.openxmlformats.org/officeDocument/2006/relationships/presProps" Target="/ppt/presProps.xml" Id="R9474db9281a04423" /><Relationship Type="http://schemas.openxmlformats.org/officeDocument/2006/relationships/tableStyles" Target="/ppt/tableStyles.xml" Id="R32b93d18aa2b490a" /><Relationship Type="http://schemas.openxmlformats.org/officeDocument/2006/relationships/slide" Target="/ppt/slides/slide1.xml" Id="Rfd9d7d83afa64086" /><Relationship Type="http://schemas.openxmlformats.org/officeDocument/2006/relationships/slide" Target="/ppt/slides/slide2.xml" Id="Rb148ff385759474f" /><Relationship Type="http://schemas.openxmlformats.org/officeDocument/2006/relationships/slide" Target="/ppt/slides/slide3.xml" Id="R098417c6797d40ea" /><Relationship Type="http://schemas.openxmlformats.org/officeDocument/2006/relationships/slide" Target="/ppt/slides/slide4.xml" Id="R479d14cca2904cc3" /><Relationship Type="http://schemas.openxmlformats.org/officeDocument/2006/relationships/slide" Target="/ppt/slides/slide5.xml" Id="R674c8404bb954982" /><Relationship Type="http://schemas.openxmlformats.org/officeDocument/2006/relationships/slide" Target="/ppt/slides/slide6.xml" Id="R009b48c970b34838" /><Relationship Type="http://schemas.openxmlformats.org/officeDocument/2006/relationships/slide" Target="/ppt/slides/slide7.xml" Id="Rc7f9232aab8a4b33" /><Relationship Type="http://schemas.openxmlformats.org/officeDocument/2006/relationships/slide" Target="/ppt/slides/slide8.xml" Id="Rba61cb659f914301" /><Relationship Type="http://schemas.openxmlformats.org/officeDocument/2006/relationships/slide" Target="/ppt/slides/slide9.xml" Id="R8492b15993ba4ae9" /><Relationship Type="http://schemas.openxmlformats.org/officeDocument/2006/relationships/slide" Target="/ppt/slides/slide10.xml" Id="R63ff75f7a5134a15" /><Relationship Type="http://schemas.openxmlformats.org/officeDocument/2006/relationships/slide" Target="/ppt/slides/slide11.xml" Id="Rdf4fb66dbd6b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00f44acf60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fc52d30f14d74" /><Relationship Type="http://schemas.openxmlformats.org/officeDocument/2006/relationships/notesMaster" Target="/ppt/notesMasters/notesMaster1.xml" Id="R9eaea9042c99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7dc5cfd564124" /><Relationship Type="http://schemas.openxmlformats.org/officeDocument/2006/relationships/notesMaster" Target="/ppt/notesMasters/notesMaster1.xml" Id="Rf8f66c2f6aa1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c383f01550484f" /><Relationship Type="http://schemas.openxmlformats.org/officeDocument/2006/relationships/notesMaster" Target="/ppt/notesMasters/notesMaster1.xml" Id="R368f7c4b86384f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5162a971847cb" /><Relationship Type="http://schemas.openxmlformats.org/officeDocument/2006/relationships/notesMaster" Target="/ppt/notesMasters/notesMaster1.xml" Id="R0ceb1ebd8077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544c49d25948ee" /><Relationship Type="http://schemas.openxmlformats.org/officeDocument/2006/relationships/notesMaster" Target="/ppt/notesMasters/notesMaster1.xml" Id="Re3f07d2951d6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c5cfcb2c5f44a8" /><Relationship Type="http://schemas.openxmlformats.org/officeDocument/2006/relationships/notesMaster" Target="/ppt/notesMasters/notesMaster1.xml" Id="Rb412ce314c1d4e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f15478a4f74af5" /><Relationship Type="http://schemas.openxmlformats.org/officeDocument/2006/relationships/notesMaster" Target="/ppt/notesMasters/notesMaster1.xml" Id="R88f37c2c26b54c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341a640b84814" /><Relationship Type="http://schemas.openxmlformats.org/officeDocument/2006/relationships/notesMaster" Target="/ppt/notesMasters/notesMaster1.xml" Id="R04a9c922b81e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82b33a6c86448a" /><Relationship Type="http://schemas.openxmlformats.org/officeDocument/2006/relationships/notesMaster" Target="/ppt/notesMasters/notesMaster1.xml" Id="Rc4efeb90a2d84f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a758cc271a415e" /><Relationship Type="http://schemas.openxmlformats.org/officeDocument/2006/relationships/notesMaster" Target="/ppt/notesMasters/notesMaster1.xml" Id="R40174d98c4a747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b433bcd94645b5" /><Relationship Type="http://schemas.openxmlformats.org/officeDocument/2006/relationships/notesMaster" Target="/ppt/notesMasters/notesMaster1.xml" Id="R84bb3a1f20ec45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explains the actual Orbit Calculator codebase in calculator-app. It follows the code's own ICM documents and the implementation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supported behavior comes from calculator-app/README.md and icm/02-scope.md. The app intentionally excludes scientific operations, parentheses, memory registers, persistent history, and locale switching.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ICM here means Interpretable Context Methodology. The five handoffs are documented in calculator-app/icm/ICM.md. The original workspace contained a database-specific ICM pipeline, so this project adapts the pipeline to calculator stages rather than reusing database stages.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comes from calculator-app/icm/03-architecture.md. The separation keeps the pure engine testable and lets the UI change without rewriting the arithmetic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fields are defined in createInitialState() in src/calculator-engine.js and explained in icm/03-architecture.md.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entry-order behavior is intentional and documented in README.md, icm/01-research.md, icm/02-scope.md, and icm/05-validation-report.md. A future precedence-aware parser would be a new scope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action-to-function map from icm/04-implementation-map.md. The codebase deliberately avoids one giant handler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excerpt is from src/calculator-engine.js. The app uses explicit operators and never passes user-entered text to eval. The error behavior is covered by the division-by-zero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Accessibility and platform sources: WAI Accessible Names and Descriptions https://www.w3.org/WAI/ARIA/apg/practices/names-and-descriptions/ ; WAI Button Pattern https://www.w3.org/WAI/ARIA/apg/patterns/button/ ; MDN KeyboardEvent.key https://developer.mozilla.org/en-US/docs/Web/API/KeyboardEvent/key . The deck describes the implementation in src/app.js, index.html, and styles.css.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 is recorded in icm/05-validation-report.md. The latest run passed 10 tests with 0 failures. The live browser check exercised keyboard input, history, and divide-by-zero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closing slide is the teaching path. The README contains the same mapping in plain language, while the ICM documents preserve the reasoning behind the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98dd010f0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a668e327448fb" /><Relationship Type="http://schemas.openxmlformats.org/officeDocument/2006/relationships/slideLayout" Target="/ppt/slideLayouts/slideLayout1.xml" Id="Rca7f0c28815344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7f0c28815344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db142e4404224" /><Relationship Type="http://schemas.openxmlformats.org/officeDocument/2006/relationships/notesSlide" Target="/ppt/notesSlides/notesSlide1.xml" Id="R03aa8b162771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c17a0618b4d43" /><Relationship Type="http://schemas.openxmlformats.org/officeDocument/2006/relationships/notesSlide" Target="/ppt/notesSlides/notesSlide2.xml" Id="R553554c59841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66bd532184926" /><Relationship Type="http://schemas.openxmlformats.org/officeDocument/2006/relationships/notesSlide" Target="/ppt/notesSlides/notesSlide3.xml" Id="Red58a6962acf43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2ccf983b46b9" /><Relationship Type="http://schemas.openxmlformats.org/officeDocument/2006/relationships/notesSlide" Target="/ppt/notesSlides/notesSlide4.xml" Id="R9ceca1e8722d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cb5e5d8054bef" /><Relationship Type="http://schemas.openxmlformats.org/officeDocument/2006/relationships/notesSlide" Target="/ppt/notesSlides/notesSlide5.xml" Id="R791171dcc28648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8b5778c004987" /><Relationship Type="http://schemas.openxmlformats.org/officeDocument/2006/relationships/notesSlide" Target="/ppt/notesSlides/notesSlide6.xml" Id="R9cd0339c27aa4b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05fd80fa47c6" /><Relationship Type="http://schemas.openxmlformats.org/officeDocument/2006/relationships/notesSlide" Target="/ppt/notesSlides/notesSlide7.xml" Id="Rc29e225ffb74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cd427256e4cb3" /><Relationship Type="http://schemas.openxmlformats.org/officeDocument/2006/relationships/notesSlide" Target="/ppt/notesSlides/notesSlide8.xml" Id="R883871c898e549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5c0428fef4dd5" /><Relationship Type="http://schemas.openxmlformats.org/officeDocument/2006/relationships/notesSlide" Target="/ppt/notesSlides/notesSlide9.xml" Id="R6d02211ff19447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e75a3ef0245bc" /><Relationship Type="http://schemas.openxmlformats.org/officeDocument/2006/relationships/notesSlide" Target="/ppt/notesSlides/notesSlide10.xml" Id="Ra61aefe58cf64d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1a0263aaf4c20" /><Relationship Type="http://schemas.openxmlformats.org/officeDocument/2006/relationships/notesSlide" Target="/ppt/notesSlides/notesSlide11.xml" Id="Rbb12f8d61f774b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51B7A-9F8B-415A-82ED-4B18B41D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525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86542-FB16-4C0F-8810-7F05BBE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ORBIT CALCULATOR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388CA-EDA0-45BA-B35D-39A7FFF6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How the codebase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FEE34-74F9-4CD1-811F-CFB92BE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A guided tour from a user action to a tested calculator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12F60-1BE8-45E3-A8D6-E19AE9B3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438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AD0AC-F315-4B3D-99C5-3957AC3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HTML · CSS · JavaScript · ICM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06C7C-1536-4546-90EF-AC5834AA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AI-assisted build · human-directed, reviewed, and tested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656EC-828F-41DD-B5DA-A14EA55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Built as a small, teachable reverse-engineering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E171E-A44A-42B9-B10D-B099CF3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6361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CCFA9-218F-4959-8FE9-CE3E7F0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WHAT THE USER CAN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1ED2-4D60-4F10-92D4-8489439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product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D9686-8D59-4D3C-A193-D9128A10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96CC5-B9E9-4C33-AF6C-97DB984E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BEA5-F3A3-4C9C-BD8A-0F74754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A focused four-function calculator with the small details that make it 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16755-0D3D-4C67-9EFB-04B879D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Calculator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97CBB-F1B7-4D37-82B8-CFD28C6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0–9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9DC56-4597-4D31-A191-E4352D0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build a number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3655D-706C-44C6-85E9-6CE3BBE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8A655-D31F-436D-A128-D573A75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.  %  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D6F16-47C5-4CBC-AF00-F3B352FB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edit the current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09CB1-4CE1-45C5-991D-4E178573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99044-F56A-41B9-B593-7DC499F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+  −  ×  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2D28B-664E-41FB-A303-092C935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choose an operation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63A50-DF1C-4885-840D-5E84B2C8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36513-D9C1-4F45-ADF2-32D6035C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F2D15-1293-48F1-9BA0-E5D1F43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calculate or repeat the last operation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5E7FC-89CA-4591-88B6-9E608FA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27094-358E-4930-996E-1F22C13B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AC  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93778-EC46-4E2D-9D36-D606E323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reset or remove one character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01316-CF81-46FC-B864-F7CB1D9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00504-61EE-438F-9A4C-93B95A1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552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9B2B5-A781-4407-9759-738EC87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Interaction modes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040B5-2048-40EC-8B70-FA91AC3B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MOUSE / TOUCH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27239-1AE7-46C9-8989-A5F28624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Native HTML buttons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13BD3-2798-4E86-8689-BD9E2FCE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38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KEYBOARD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1ADFC-F2F5-4875-B604-D579714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671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3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Digits · operators · Enter · Escape · Backspace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EDB37-6982-4B8B-AEA0-3202FD6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19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D66FF-38F6-4874-8BA8-9042448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History + readable errors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5D27B-FFD8-4791-8BD4-1F406525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914873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5088A-9B70-4FBA-957D-9CD6F786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WHY THE PROJECT STAYS EXPLAINABLE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320C6-4F9A-4AB6-8171-9527F7B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ICM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674C4-C7A0-46E8-AE3B-DDC254F3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05A6-B783-446B-92A2-2A08E598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174F4-966B-4FA0-B49F-CD45312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Each stage turns one kind of uncertainty into an inspectable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AA969-8139-400C-AA01-4BA9006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95450" cy="19812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DEB68-548E-4ABB-A796-D5DDDBFD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C06AF-AB2F-49A6-B2E3-0A9E7A7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D469C-AA6D-4FDC-9728-F1B211F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platform rules +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C288B-B3E5-4992-95BA-C86A8E6A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71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887A0-E89A-401E-8BC1-206D1EF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24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BB197-E1DD-4FA9-9B3F-36725601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695450" cy="19812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39B8C-F7B4-4FE9-82AF-0A2D391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FA890-2FC9-4BEE-B49A-58F9A160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BE192-25FC-4C8B-B751-1F54855A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433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promises + acceptance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672EE-42B3-44B0-B7F3-3C96CF51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40B8D-FF84-47E4-8222-E195933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24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B391D-B660-4FEE-B374-3D76FA9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1695450" cy="19812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88BC3-5C94-40EC-93E4-FE58888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C7A1A-0317-4A1B-933A-CC3E25F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D980C-C16D-45A7-B329-5F3DD99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boundaries + state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86E13-8F81-45EE-AD38-CF58C95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7853B-F5E9-4C6A-B71D-5A6CA31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B3C8B-063F-412E-89E2-C6AAEC4B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1695450" cy="19812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E91AE-3C13-4F9F-890D-E96E8ED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D134B-A4D7-48CA-A784-28C3DAD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67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91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23064-838B-43A1-9AF9-5C345EE8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functions +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735D3-9198-44F3-9653-7D8706EC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47136-CB89-4770-B8A7-2B885D4F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24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04120-60D5-4134-80FC-2D0AD1DD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1695450" cy="19812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AC350-4E2F-4C5A-B40F-E47EB4F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D99BC-64A7-4377-ADE5-4749BB41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5FBBF-B124-4C58-A0EF-FDDCE52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4330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evidence + limits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828E37-FB7B-452A-83F7-E6F00137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ICM = requirement → code boundary → observable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00E1B-0B53-4953-87AE-83AFD3CA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The pipeline files live in calculator-app/icm/</a:t>
            </a:r>
          </a:p>
        </p:txBody>
      </p:sp>
    </p:spTree>
    <p:extLst>
      <p:ext uri="{BB962C8B-B14F-4D97-AF65-F5344CB8AC3E}">
        <p14:creationId xmlns:p14="http://schemas.microsoft.com/office/powerpoint/2010/main" val="200864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7C79E4-E7B5-4219-BF4D-4A41267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WHERE EACH RESPONSIBILITY LIVES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2906-661D-436B-A840-5B89E27F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architecture is a one-way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DF54A-474E-43F3-84EB-2A3D32B3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69203-FBB8-4177-9F91-050B4D7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5809F-719D-4CF8-B2D8-F2B508D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The UI translates intent. The engine owns the rules. Rendering shows the new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F8F82-14E0-4EA8-93E2-AD17A7EE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6C7C-468A-4A6A-A65B-CB3CBEAC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User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26DF3-A023-4F4E-B976-D1BBA82C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click or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CA533-6BDF-4EEE-8FD2-EDCB0CC2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81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6CE7-FBB4-4F25-8EB3-540C4129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337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411A9-9540-4D30-B615-BB54D04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0374A-BEB7-4B1A-9ACA-C95E651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6C2EC-8F48-4CCE-8B15-117EC320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translate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FCFB5-3EB0-41FE-8995-748AA87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890CA-2A5B-4AA6-B161-C1951EBE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337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21BE2-18D5-4B8F-B434-67924FC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B2748"/>
          </a:solidFill>
          <a:ln xmlns:a="http://schemas.openxmlformats.org/drawingml/2006/main" w="19050">
            <a:solidFill>
              <a:srgbClr val="7C9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3C8A2-66B6-4FAE-BB07-E719CE5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765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A8436-F5CC-4C42-A533-DFBB7A9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33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apply one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B53BF-553C-496F-8005-574AF9C1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DA790-C956-4D86-AA55-0B6FE1C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CFECB-130B-44D6-B50D-1051FFA1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F44EC-49DD-45AF-8A63-4532A0A9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new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28BC5-912A-44A2-8FCB-7BF3F1F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return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4BFD8-EB24-4D33-A3E6-9E2444C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81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74EC3-A639-4544-92C1-7FBE50E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337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7A0D0-05D2-4814-88FC-2BD24FA7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733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E4CC9-ED94-440A-888D-3833F681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84C2B-05D7-4A83-89DF-ABCDA7BE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display +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10740C-6648-429B-A260-C12E577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6D33F-899B-4620-A7D8-C21DB7D2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Boundary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73DAA-6D3F-4B1E-A762-B9D38E68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calculator-engine.js never touches the DOM. app.js never performs arithmetic itself.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DAC2C3-E39C-4962-99F4-37BEF57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1854254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680F3-8091-4A0B-BD02-193E6A48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THE ENGINE'S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26848-F47D-4BA2-A86A-53AC732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State is the calculator's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58969-B0FF-456B-9137-B50F6352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6052-3AFA-4664-A9EA-33E40E7D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7DFDA-B55D-4F4B-8B8D-EA6362F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Every button press reads this memory and returns a fresh snapshot.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FFD1-EB3B-4E8D-89D4-5497A0F1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currentInput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FB67A-37AE-4CF0-BBC1-E8216F4C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number being typed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9D5A6-120A-454A-BBA2-DC02A759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B29A0-CF17-4CA5-8D78-13CB10A3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previousValue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FF195-74FA-4B07-83C0-3A95AA47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left side of an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D9C2A-7B13-41B7-9979-C66C426D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2851E-00EE-456F-B126-78E61C4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pendingOperator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BF9FD-F6E9-4C9A-AF0E-F9B4185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operation waiting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0238B-59A8-424A-96B2-F5CF5F2F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A35E8-29E7-438F-AE0C-C652A5F1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waitingForOperand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EB972-9E90-44FF-A105-4A79C4FA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next digit starts fresh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42973-DC32-49D2-B89A-4A25284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B9A4A-E5A5-41C1-B489-30625CF8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hasCalculated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876D9-2292-4A72-9906-27B7A8A8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95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display is a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A8211-3280-44A8-ADE6-BC4919D0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11717-51F4-4339-A4F0-BD8024DF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lastOperator / lastOperand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D68A8-90B0-4481-9A2F-CEECE16F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repeat equals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E83A1-FF82-4F4D-A532-FF7B743C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6E387-02FE-4048-B889-8F31A628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CF142-164E-4536-BA23-E102EB1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small display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62508-C1DB-4249-9F43-B17622C8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00341-B631-430E-ADCE-F26F6D88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54A5B-DE8C-4E81-B468-EF6D57F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readable failure message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A8503-1C96-4ADE-B61B-09CEE163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1D67E-C448-49CF-ACFB-9E8FB81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267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ABE30-69ED-4836-8AEF-F9E466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Example snapshot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FDCC7-AEEC-4DD7-8E97-C165E8F5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8 + 2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A84F0-A1C1-40CA-A9FD-A14BB11F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352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FCF76-7C25-46E9-93BF-9E466672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currentInput: "2"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previousValue: 8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pendingOperator: "add"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waitingForOperand: false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4BB85-B94E-467B-A905-6DCABCE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9590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Plain language: the calculator remembers 8, knows + is selected, and is waiting to finish the operation with 2.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291C32-4350-4F96-842B-E29DC5BF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47941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4E6084-F444-4E56-B9BA-452B49B5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EXAMPLE: 8 + 2 × 3 =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70C0-C31E-45A1-BC98-EB3A707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 calculation is a sequence of state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2E115-FFBF-4E18-80A2-E0175B2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EE2F3-3DA6-4DBF-B4E3-C7ABFACE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90D9E-BB13-45B8-96AB-DFC2CC4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This project models a basic pocket calculator: operations resolve in the order entered.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FCD95-489D-4E49-B5F5-2E63369C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80CAE-BE5D-4BBA-BA5B-B4A36AC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03B74-ABCB-4BCB-9743-69DACFB8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currentInput =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405AB-7AA0-4202-BC5F-091C066F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27A81-B799-4030-BA7D-4555BE3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43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FF3EA-90A0-433E-BC86-91D3863A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7CB5F-A9D9-4AE1-9DC6-495F0D03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9D9BD-F97B-4B5B-B155-83EAD97E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remember 8 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00984-1424-491D-9E27-F997DC1E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BA71A-23E9-4269-9930-9EA8A4C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43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43C58-4FE9-47CD-9A7B-0C30E374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F5647-CB4A-4C08-BBB7-1881C1F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B5863-CD66-4155-ABCF-AB94D4FC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currentInput =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7C59B-6D00-4404-8B17-1C88772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9AF26-3E9B-4A91-A14C-FAAA5DF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43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DCB36-04A6-4016-ACCB-452B385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F132B-4B56-48C6-A1D6-B69C514D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9FEA5-E9BC-41D1-A318-3AE53C5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finish 8 + 2 = 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9A200-BCCF-416C-98E2-2440C0E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67DF8-16A0-4752-B5CA-AAB42E0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43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FE6EE-099B-48EE-9934-94D15FC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7D26B-D462-4745-8FCD-1EB61F0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85019-22A9-48F6-A459-E0B4913E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currentInput =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33B49-688C-4BDD-B818-B27C0C1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06CC3-EB35-4CF1-BBFB-F8ADEE5C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4322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C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6B85D-258C-43E7-87A8-7FF3958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257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63E6BE"/>
          </a:solidFill>
          <a:ln xmlns:a="http://schemas.openxmlformats.org/drawingml/2006/main" w="19050">
            <a:solidFill>
              <a:srgbClr val="63E6B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403012-3DFD-400E-A0CA-EFEA2B6E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B10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02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6FE8C-0D7D-422B-B101-1C139714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10 × 3 = 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4383EB-2FB9-4F66-9388-F193D060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2748"/>
          </a:solidFill>
          <a:ln xmlns:a="http://schemas.openxmlformats.org/drawingml/2006/main" w="19050">
            <a:solidFill>
              <a:srgbClr val="7C9C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FD853-D35A-427A-B8E0-BF9AB07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9162DE-52D4-4CB3-AEAC-6F7A6718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959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14FC61-E24C-4BEC-B825-1EA6638C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10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rule is explicit, documented, and tested. It is not a hidden parser behavior.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46297E-93E1-4CFC-98A4-4EADB22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705342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7FBF9A-D107-483E-8785-685E2CF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THE ENGINE FUNCTION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BE6F-C7F8-4B90-9637-B10C807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Each required action has one clear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4B0A2-9EF3-4BC5-B8ED-6F300CD4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C5168-4671-404D-A5FA-264D0B7E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C7B41-45C5-44E3-A57F-45CEE150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The names describe the job. The return value describes the new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601C7-A64E-4166-9CE9-5F6D6208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0068C-051B-4686-96EA-65CEEF7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EC87D-BE19-4B42-B682-15F5B977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inputDigit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D3219-099A-47B1-9C76-EB4F245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860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add one digit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CB68A-45ED-465B-A28E-59194E4A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501B-4AEF-4075-BC33-E1C6D39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inputDecimal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B21B8-E5EF-4674-9D65-B5981152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860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add one decimal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AC608-3193-4C3A-A33B-9F4ADEA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E7847-DE99-40D1-AADF-60808895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chooseOperator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505CB-4CE0-4A99-8AD9-FAAB0D1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remember or finish an operation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ADB9E-E404-464D-ABE1-F6AEA9FE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40833-F008-4D8E-894C-B6CEE7A8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calculateResult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4ADFE-8BFC-40A9-9708-F276BECF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finish or repeat a calculation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15CF8-DD9D-49E6-87E7-1C56FAB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12210-DE58-4708-8660-5BA1DBFA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clearCalculator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68F7F-FF7D-4EAD-92FE-4FBB830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862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return to initial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C2B10-B157-4E3B-A377-34D21C4E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446E1-C095-4772-AFA4-FB536E13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deleteLastCharacter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239B7-51D5-428B-A071-844EF2CE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remove one typed character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8E8BB-FFE1-4E35-B2FB-05FEF59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27AD8-E890-4989-A53D-EE0BE94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toggleSign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C6BB05-D931-4189-A721-F6B5FDB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86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switch positive / negative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CEC00-2A5D-45D7-8975-E35785B0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B5298A-21D2-4E9A-8084-3BB575A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applyPercent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A021F-568B-4694-ACE2-974CFB3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86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divide current entry by 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DAB715-7D3E-4F06-ACFB-A3E74C36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4CB75-ACD3-45A7-9ABC-FA035D17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pressKey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FE337-7361-4E24-9B65-EC4C1F6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864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map keyboard input to actions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CEC3F-F1F3-4752-BE5C-30A88B4C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873DE-5010-4DC5-9B94-28C0654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2152650" cy="33909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AEC788-AD63-46CA-8018-5F1C61C4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Display helpers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CFCFA5-D72C-44A5-8331-3AC6D25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86100"/>
            <a:ext cx="171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formatEntryValue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formatNumericValue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getStatusMessage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D1786F-E9B8-4BBE-8C8E-395AA00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05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461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These keep formatting and accessibility messages out of the math rules.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126AD-8415-4CDB-B921-128C6CC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Full mapping: icm/04-implementation-map.md</a:t>
            </a:r>
          </a:p>
        </p:txBody>
      </p:sp>
    </p:spTree>
    <p:extLst>
      <p:ext uri="{BB962C8B-B14F-4D97-AF65-F5344CB8AC3E}">
        <p14:creationId xmlns:p14="http://schemas.microsoft.com/office/powerpoint/2010/main" val="10410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50CD4-8D4A-4F23-927C-985EA4E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INSIDE CALCULATOR-ENGINE.JS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65288-DBBF-48B0-B8D9-43FF330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engine protects the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38D89-3E8E-4A2D-92D4-08410D58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C85F0-FF83-423D-BDF2-AAA57B4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5557B-AA0F-4D08-BBB7-34E292A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The engine is pure JavaScript: no DOM, no browser events, no unsafe expression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F921C-6960-4F89-AA0B-FDA3AA43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245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87AA7-85C4-44D4-9E1B-0E7080B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calculateBinaryOperation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CFEAD-700C-4067-8E0C-0ACA3E47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514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48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if (operator === "divide" &amp;&amp; right === 0) {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throw new CalculatorError(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  "Cannot divide by zero."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);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return roundCalculatorResult(result);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1EA88-C077-4887-A8C1-ACD0FCA8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166F6-1F20-4966-86D4-F59EDDBA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Rejects invalid math with a readable 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9E74B-ABBA-4A00-96A7-7EA876AA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36196-1914-4EFE-9D3E-AB75584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Pure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91E44-70C9-4D83-B91B-C58595F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Returns a new state instead of mutating the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F9E1-8831-4270-903F-0819E97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9DDEB-4608-4BB2-9E46-F331C32F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Testable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C3D9E-9785-4B81-8824-B3E999E5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The same rules run in Node tests and the browser.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DC35C-1E2A-48B6-92D0-526534F0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29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9D144-C4A3-461B-8AC8-D933ADE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2748"/>
          </a:solidFill>
          <a:ln xmlns:a="http://schemas.openxmlformats.org/drawingml/2006/main" w="19050">
            <a:solidFill>
              <a:srgbClr val="7C9C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6B19A-7BEE-489A-BFD2-2BA77E9C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One operation in the codebase = one idea a human can name.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E1765-7105-4884-B2ED-F6CC7FAD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351938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9DDAF-6E81-4D11-8FFF-144C027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HTML, APP.JS, AND CSS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507B5-74EE-44FF-8460-6E725FB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UI translates intent into the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1C720-FDCD-4DBB-983D-AFF5A23A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EBBDC-D215-4445-835F-E67F9705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C23E8-34D6-4BEC-A913-70261AC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Three files divide structure, behavior, and presentation.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9F6DF-F5CA-4C7F-9951-AB66D55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CC6D2-5845-4A36-A9B8-E9C2A8FC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semantic buttons, display,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8A41B-1E38-40CA-BF93-AC6C23B1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9B55B-94C9-418A-A3F2-2BC016C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src/app.js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83819-D7C8-4CB3-9DE7-24EEBF20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events, dispatch, render,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66C47-6383-422B-834B-DE9B298D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7250C-94E0-4459-8536-555D8A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styles.css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990E0-CF26-440B-80A9-B739BC6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layout, focus, responsive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96635-9133-4B72-91C7-0E917D72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561A8-AB12-4598-AF71-AE961BB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30443-8DFB-4AAE-93E0-345E717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The event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BA365-2934-40E8-865A-242A1F4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333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const button = event.target.closest(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"button[data-action]"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performAction(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button.dataset.action,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  button.dataset.value</a:t>
            </a:r>
          </a:p>
          <a:p xmlns:a="http://schemas.openxmlformats.org/drawingml/2006/main">
            <a:pPr>
              <a:defRPr sz="150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1A214-1586-49FD-9E01-1D92036E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Native buttons provide names and keyboard activation. KeyboardEvent.key maps keys to the same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82DD6-A12A-4708-B43F-4B7CCFC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Orbit Calculator · codebase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153748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D6DEF-958C-498B-A744-38EAB041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WHAT PROVES THE PROJECT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1701D-A46D-47CB-8D9B-B5ECEF7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Validation covers behavior and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6BD0-EB15-45C8-9EDC-84E756C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C2EC9-36E9-4C66-AFC8-DB5FB44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5FC48-EF87-4596-B7B4-731BDDD2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857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B2748"/>
          </a:solidFill>
          <a:ln xmlns:a="http://schemas.openxmlformats.org/drawingml/2006/main" w="19050">
            <a:solidFill>
              <a:srgbClr val="7C9C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6758-E6E7-442F-B46C-6A847534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20D2B-E974-4D08-A836-132313A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engine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A5F97-5C74-478D-9125-8B7FE6BF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npm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7C3FB-3985-4003-B67F-6AFFCDED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Automated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144A3-F9DB-46E2-89BC-03DB51AD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4000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Digits · decimal · delete · sign · percent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Math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Four operations · chaining · repeated equals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Failure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Division by zero · non-finite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5AF46-77BC-49E2-B372-F0E691D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CA7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CA75"/>
                </a:solidFill>
                <a:latin typeface="Arial"/>
                <a:ea typeface="Arial"/>
                <a:cs typeface="Arial"/>
              </a:rPr>
              <a:t>Manual browser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4CE0B-8890-407D-8340-A91EA702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Readable accessible labels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Visible focus ring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Responsive narrow layout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Reduced-motion support</a:t>
            </a:r>
          </a:p>
          <a:p xmlns:a="http://schemas.openxmlformats.org/drawingml/2006/main">
            <a:pPr>
              <a:defRPr sz="1350" b="0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Session history updates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CEBB5-62D2-490B-9289-98CA1A3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D2619-1944-40B4-82CB-87F9DDC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8F8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8F8F"/>
                </a:solidFill>
                <a:latin typeface="Arial"/>
                <a:ea typeface="Arial"/>
                <a:cs typeface="Arial"/>
              </a:rPr>
              <a:t>Explicit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41679-3409-4FBC-BF1A-25BEE84B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10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1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Entry-order arithmetic · no scientific functions · no parentheses parser · no persistent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87CA7-2459-4815-9B39-DEC814BE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48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Known limitations are recorded rather than hidden.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E5C85-EFD6-4017-B274-2A747476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Evidence: src/calculator-engine.test.js + icm/05-validation-report.md</a:t>
            </a:r>
          </a:p>
        </p:txBody>
      </p:sp>
    </p:spTree>
    <p:extLst>
      <p:ext uri="{BB962C8B-B14F-4D97-AF65-F5344CB8AC3E}">
        <p14:creationId xmlns:p14="http://schemas.microsoft.com/office/powerpoint/2010/main" val="1390095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5D861C-9FF2-4E83-BF3E-4417D916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A BEGINNER'S READING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44F1D-5F8D-4768-B4B7-A5AB2A5E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The simplest way to explain the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9F547-166A-4B9F-9C93-406BFE35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6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99290-118D-46C3-982C-14471B9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86E54-CD4B-4787-B756-8A358E47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Explain the app as one repeated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B9FE-98DE-43E5-9788-600BA082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695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72EF3-DFA9-499F-A3C5-14FFF051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C38CB-4B33-4C52-8D53-0499800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91E70-039A-47B2-9544-331BDAE6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defines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C1A15-569B-435E-95B5-92263F0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FD96C-030D-4B77-8B9D-0A1890EB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479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2656B-D618-47D2-8561-4DBF3F5E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24100"/>
            <a:ext cx="1695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F8FEF-B05D-4C96-8C08-B099DAF7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F9165-D535-4429-8A6A-ACB2D0E1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146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app.js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0EE27-2883-48E2-BEE5-3170600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hears intent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32E8F-6DD5-40B7-9CF5-E3918BA3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C9511-2CC9-4736-A0CB-5F327745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479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485A6-A90B-4FC4-AA4F-0B2D09EA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695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849ED-20F5-41AC-85AF-81A6C73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AB142-ED83-42C2-BDC9-6C68BCA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DBFC8-9C2B-4F83-A195-0437FBC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575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updates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92556-82FC-4318-908D-5E0CEF5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2F997-7F55-4510-A86C-70E9E870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479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61171-0760-4DE7-BA60-8788BB6F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1695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E5B12-A808-4C51-BABA-3DE35E5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A6879-87A9-4357-BA49-7BFE9EF4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06C5B-3277-44A4-B4B9-A6F4F81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paints the screen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95FF9-4C37-4598-9FDD-0BC4CDA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757EA-AE4E-4B8A-9686-A4C19999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47975"/>
            <a:ext cx="95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E6B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CCCDF-4421-4F31-868C-FDBD96F3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1695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1F3A"/>
          </a:solidFill>
          <a:ln xmlns:a="http://schemas.openxmlformats.org/drawingml/2006/main" w="19050">
            <a:solidFill>
              <a:srgbClr val="2A365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7B81F-2D7D-4E39-9A23-20B722B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146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E4C000-FEDD-4DB1-86DE-3BA0689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7C9C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C9C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88014-8A30-4F56-9F58-E034A2E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prove the rules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D2AA4-7092-452E-96AF-E3A0E402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B2748"/>
          </a:solidFill>
          <a:ln xmlns:a="http://schemas.openxmlformats.org/drawingml/2006/main" w="19050">
            <a:solidFill>
              <a:srgbClr val="7C9C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EE7E6-C8F5-4348-8138-815377F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63E6BE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3E6BE"/>
                </a:solidFill>
                <a:latin typeface="Arial"/>
                <a:ea typeface="Arial"/>
                <a:cs typeface="Arial"/>
              </a:rPr>
              <a:t>Read the files in this order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0FE7BC-795F-46AF-8986-983BCB1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6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4F7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7FF"/>
                </a:solidFill>
                <a:latin typeface="Arial"/>
                <a:ea typeface="Arial"/>
                <a:cs typeface="Arial"/>
              </a:rPr>
              <a:t>README.md  →  index.html  →  styles.css  →  src/app.js  →  src/calculator-engine.js  →  src/calculator-engine.test.js  →  icm/*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60904-B7DA-462A-ADF9-4D627F3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AB5D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B5D0"/>
                </a:solidFill>
                <a:latin typeface="Arial"/>
                <a:ea typeface="Arial"/>
                <a:cs typeface="Arial"/>
              </a:rPr>
              <a:t>Start the app with: python -m http.server 8000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6688D-4D61-480B-848C-4F0C5DA6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E7A9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E7A98"/>
                </a:solidFill>
                <a:latin typeface="Arial"/>
                <a:ea typeface="Arial"/>
                <a:cs typeface="Arial"/>
              </a:rPr>
              <a:t>The codebase is designed to be explained, not merely executed.</a:t>
            </a:r>
          </a:p>
        </p:txBody>
      </p:sp>
    </p:spTree>
    <p:extLst>
      <p:ext uri="{BB962C8B-B14F-4D97-AF65-F5344CB8AC3E}">
        <p14:creationId xmlns:p14="http://schemas.microsoft.com/office/powerpoint/2010/main" val="669006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2026-09-22T06:21:34.2360000Z</dcterms:created>
  <dcterms:modified xsi:type="dcterms:W3CDTF">2026-09-22T06:21:34.2360000Z</dcterms:modified>
</coreProperties>
</file>